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来源：S01/S03；SOURCE_INDEX.csv提供固定SHA256。</a:t>
            </a:r>
          </a:p>
          <a:p/>
          <a:p>
            <a:r>
              <a:t>内部稿，未批准外发。原完整性FAIL保持。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来源：S01/S03/S19；SOURCE_INDEX.csv提供固定SHA256。</a:t>
            </a:r>
          </a:p>
          <a:p/>
          <a:p>
            <a:r>
              <a:t>内部稿，未批准外发。原完整性FAIL保持。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来源：S03/S04/S05；SOURCE_INDEX.csv提供固定SHA256。</a:t>
            </a:r>
          </a:p>
          <a:p/>
          <a:p>
            <a:r>
              <a:t>内部稿，未批准外发。原完整性FAIL保持。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来源：S02/S03；SOURCE_INDEX.csv提供固定SHA256。</a:t>
            </a:r>
          </a:p>
          <a:p/>
          <a:p>
            <a:r>
              <a:t>内部稿，未批准外发。原完整性FAIL保持。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来源：S03/S05；SOURCE_INDEX.csv提供固定SHA256。</a:t>
            </a:r>
          </a:p>
          <a:p/>
          <a:p>
            <a:r>
              <a:t>内部稿，未批准外发。原完整性FAIL保持。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来源：S18/S19；SOURCE_INDEX.csv提供固定SHA256。</a:t>
            </a:r>
          </a:p>
          <a:p>
            <a:r>
              <a:t>新面板不是对执行者保密的外部盲测。新增目标未用于调参。</a:t>
            </a:r>
          </a:p>
          <a:p>
            <a:r>
              <a:t>内部稿，未批准外发。原完整性FAIL保持。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来源：S18/S19；SOURCE_INDEX.csv提供固定SHA256。</a:t>
            </a:r>
          </a:p>
          <a:p/>
          <a:p>
            <a:r>
              <a:t>内部稿，未批准外发。原完整性FAIL保持。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来源：S08/S09；SOURCE_INDEX.csv提供固定SHA256。</a:t>
            </a:r>
          </a:p>
          <a:p/>
          <a:p>
            <a:r>
              <a:t>内部稿，未批准外发。原完整性FAIL保持。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来源：S08/S09；SOURCE_INDEX.csv提供固定SHA256。</a:t>
            </a:r>
          </a:p>
          <a:p/>
          <a:p>
            <a:r>
              <a:t>内部稿，未批准外发。原完整性FAIL保持。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来源：S02/S08；SOURCE_INDEX.csv提供固定SHA256。</a:t>
            </a:r>
          </a:p>
          <a:p/>
          <a:p>
            <a:r>
              <a:t>内部稿，未批准外发。原完整性FAIL保持。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来源：S08/S10/S18；SOURCE_INDEX.csv提供固定SHA256。</a:t>
            </a:r>
          </a:p>
          <a:p/>
          <a:p>
            <a:r>
              <a:t>内部稿，未批准外发。原完整性FAIL保持。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来源：S11；SOURCE_INDEX.csv提供固定SHA256。</a:t>
            </a:r>
          </a:p>
          <a:p/>
          <a:p>
            <a:r>
              <a:t>内部稿，未批准外发。原完整性FAIL保持。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来源：S13/S14/S15；SOURCE_INDEX.csv提供固定SHA256。</a:t>
            </a:r>
          </a:p>
          <a:p/>
          <a:p>
            <a:r>
              <a:t>内部稿，未批准外发。原完整性FAIL保持。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来源：S03/S04/S12/S18；SOURCE_INDEX.csv提供固定SHA256。</a:t>
            </a:r>
          </a:p>
          <a:p/>
          <a:p>
            <a:r>
              <a:t>内部稿，未批准外发。原完整性FAIL保持。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来源：S01/S03/S15/S18；SOURCE_INDEX.csv提供固定SHA256。</a:t>
            </a:r>
          </a:p>
          <a:p/>
          <a:p>
            <a:r>
              <a:t>内部稿，未批准外发。原完整性FAIL保持。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5364C"/>
                </a:solidFill>
                <a:latin typeface="Microsoft YaHei"/>
              </a:defRPr>
            </a:pPr>
            <a:r>
              <a:t>716首次阶段性交付｜内部审阅稿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58078"/>
                </a:solidFill>
                <a:latin typeface="Microsoft YaHei"/>
              </a:defRPr>
            </a:pPr>
            <a:r>
              <a:t>CZ-D3 · 研究负责人审阅后再决定正式对外交付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2823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5651"/>
                </a:solidFill>
                <a:latin typeface="Microsoft YaHei"/>
              </a:defRPr>
            </a:pPr>
            <a:r>
              <a:t>内部审阅稿｜未批准对外发送｜CZ-D2完整性Gate保持FAIL  |  S01/S03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2823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15364C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5364C"/>
                </a:solidFill>
                <a:latin typeface="Microsoft YaHei"/>
              </a:defRPr>
            </a:pPr>
            <a:r>
              <a:t>• 输入观测条件与精度 → 目标状态精度 → 适用边界与资源需求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7860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5364C"/>
                </a:solidFill>
                <a:latin typeface="Microsoft YaHei"/>
              </a:defRPr>
            </a:pPr>
            <a:r>
              <a:t>• 原单HLA为主线；辅助节点结果作为条件性增强参照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65576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5364C"/>
                </a:solidFill>
                <a:latin typeface="Microsoft YaHei"/>
              </a:defRPr>
            </a:pPr>
            <a:r>
              <a:t>• 深度、真实接收链与五维联合精度尚未建立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52544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5364C"/>
                </a:solidFill>
                <a:latin typeface="Microsoft YaHei"/>
              </a:defRPr>
            </a:pPr>
            <a:r>
              <a:t>• CZ-D2数值试验结束，完整性Gate仍FAIL；本轮只编制材料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5364C"/>
                </a:solidFill>
                <a:latin typeface="Microsoft YaHei"/>
              </a:defRPr>
            </a:pPr>
            <a:r>
              <a:t>本次可以交付什么，不能承诺什么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2823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5651"/>
                </a:solidFill>
                <a:latin typeface="Microsoft YaHei"/>
              </a:defRPr>
            </a:pPr>
            <a:r>
              <a:t>内部审阅稿｜未批准对外发送｜CZ-D2完整性Gate保持FAIL  |  S01/S03/S19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2823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15364C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5364C"/>
                </a:solidFill>
                <a:latin typeface="Microsoft YaHei"/>
              </a:defRPr>
            </a:pPr>
            <a:r>
              <a:t>• 可以交付：候选机制、条件四参数误差、失败边界及资源缺口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7860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5364C"/>
                </a:solidFill>
                <a:latin typeface="Microsoft YaHei"/>
              </a:defRPr>
            </a:pPr>
            <a:r>
              <a:t>• 不能把候选跨度、局部信息增益、经验P95混作一种精度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65576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5364C"/>
                </a:solidFill>
                <a:latin typeface="Microsoft YaHei"/>
              </a:defRPr>
            </a:pPr>
            <a:r>
              <a:t>• 不能把100%数值接受率解释为100%定位正确率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52544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5364C"/>
                </a:solidFill>
                <a:latin typeface="Microsoft YaHei"/>
              </a:defRPr>
            </a:pPr>
            <a:r>
              <a:t>• 不能写“原单HLA已实现五维联合误差小于10%”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5364C"/>
                </a:solidFill>
                <a:latin typeface="Microsoft YaHei"/>
              </a:defRPr>
            </a:pPr>
            <a:r>
              <a:t>原单HLA：进展与缺口同时保留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58078"/>
                </a:solidFill>
                <a:latin typeface="Microsoft YaHei"/>
              </a:defRPr>
            </a:pPr>
            <a:r>
              <a:t>机制证据不替代连续误差与真实接收验证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2823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5651"/>
                </a:solidFill>
                <a:latin typeface="Microsoft YaHei"/>
              </a:defRPr>
            </a:pPr>
            <a:r>
              <a:t>内部审阅稿｜未批准对外发送｜CZ-D2完整性Gate保持FAIL  |  S03/S04/S05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2823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15364C"/>
                </a:solidFill>
                <a:latin typeface="Microsoft YaHei"/>
              </a:defRPr>
            </a:pPr>
            <a: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206240"/>
                <a:gridCol w="5029200"/>
              </a:tblGrid>
              <a:tr h="438912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方向</a:t>
                      </a:r>
                    </a:p>
                  </a:txBody>
                  <a:tcPr>
                    <a:solidFill>
                      <a:srgbClr val="1536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已有进展</a:t>
                      </a:r>
                    </a:p>
                  </a:txBody>
                  <a:tcPr>
                    <a:solidFill>
                      <a:srgbClr val="1536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尚缺</a:t>
                      </a:r>
                    </a:p>
                  </a:txBody>
                  <a:tcPr>
                    <a:solidFill>
                      <a:srgbClr val="15364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机动＋多频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特定15°例候选跨度4 km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同合同连续误差、尾部与阵形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公共源幅处理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H1条件不变性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离网格搜索可接受解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径向特征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H2速度中位收益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源频/零点、符号与实际提取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接收链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CAP06 CAL20覆盖94.3924%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低于95%门；P3未执行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754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5364C"/>
                </a:solidFill>
                <a:latin typeface="Microsoft YaHei"/>
              </a:defRPr>
            </a:pPr>
            <a:r>
              <a:t>114,576→2仅为机制验证；最终两标签只差航向4°/5°。</a:t>
            </a:r>
          </a:p>
          <a:p>
            <a:pPr>
              <a:spcAft>
                <a:spcPts val="1200"/>
              </a:spcAft>
              <a:defRPr sz="1800" b="0">
                <a:solidFill>
                  <a:srgbClr val="15364C"/>
                </a:solidFill>
                <a:latin typeface="Microsoft YaHei"/>
              </a:defRPr>
            </a:pPr>
            <a:r>
              <a:t>机动多数已包含在后续实验中，不能重复归因。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5364C"/>
                </a:solidFill>
                <a:latin typeface="Microsoft YaHei"/>
              </a:defRPr>
            </a:pPr>
            <a:r>
              <a:t>原单HLA条件精度：中位收益不等于尾部可靠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58078"/>
                </a:solidFill>
                <a:latin typeface="Microsoft YaHei"/>
              </a:defRPr>
            </a:pPr>
            <a:r>
              <a:t>P50=场景中位数等权平均；P95=最坏几何无条件尾部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2823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5651"/>
                </a:solidFill>
                <a:latin typeface="Microsoft YaHei"/>
              </a:defRPr>
            </a:pPr>
            <a:r>
              <a:t>内部审阅稿｜未批准对外发送｜CZ-D2完整性Gate保持FAIL  |  S02/S03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2823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15364C"/>
                </a:solidFill>
                <a:latin typeface="Microsoft YaHei"/>
              </a:defRPr>
            </a:pPr>
            <a: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1106424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38912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1536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距离%</a:t>
                      </a:r>
                    </a:p>
                  </a:txBody>
                  <a:tcPr>
                    <a:solidFill>
                      <a:srgbClr val="1536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速度%</a:t>
                      </a:r>
                    </a:p>
                  </a:txBody>
                  <a:tcPr>
                    <a:solidFill>
                      <a:srgbClr val="1536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输出/计划</a:t>
                      </a:r>
                    </a:p>
                  </a:txBody>
                  <a:tcPr>
                    <a:solidFill>
                      <a:srgbClr val="15364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H2 B_0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6.496 / INF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33.595 / INF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250/256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H2 U_0.05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6.593 / 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0.754 / 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250/256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AUX-D1 U0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9.608 / 19.265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48.432 / 95.546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1536/1536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11480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5364C"/>
                </a:solidFill>
                <a:latin typeface="Microsoft YaHei"/>
              </a:defRPr>
            </a:pPr>
            <a:r>
              <a:t>每格P50 / P95。H2 U_0.05注入假设径向特征；不是声压提取结果。</a:t>
            </a:r>
          </a:p>
          <a:p>
            <a:pPr>
              <a:spcAft>
                <a:spcPts val="1200"/>
              </a:spcAft>
              <a:defRPr sz="1900" b="0">
                <a:solidFill>
                  <a:srgbClr val="15364C"/>
                </a:solidFill>
                <a:latin typeface="Microsoft YaHei"/>
              </a:defRPr>
            </a:pPr>
            <a:r>
              <a:t>H2每几何32次，尾部探索性强；INF保留拒判。</a:t>
            </a:r>
          </a:p>
          <a:p>
            <a:pPr>
              <a:spcAft>
                <a:spcPts val="1200"/>
              </a:spcAft>
              <a:defRPr sz="1900" b="0">
                <a:solidFill>
                  <a:srgbClr val="15364C"/>
                </a:solidFill>
                <a:latin typeface="Microsoft YaHei"/>
              </a:defRPr>
            </a:pPr>
            <a:r>
              <a:t>AUX-D1 U0是该合同内单节点方位基线，不代表原HLA全部能力。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5364C"/>
                </a:solidFill>
                <a:latin typeface="Microsoft YaHei"/>
              </a:defRPr>
            </a:pPr>
            <a:r>
              <a:t>垂向、倾斜与联合增强：深度空白不能拼接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58078"/>
                </a:solidFill>
                <a:latin typeface="Microsoft YaHei"/>
              </a:defRPr>
            </a:pPr>
            <a:r>
              <a:t>全部经验测深及五维联合性能仍未建立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2823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5651"/>
                </a:solidFill>
                <a:latin typeface="Microsoft YaHei"/>
              </a:defRPr>
            </a:pPr>
            <a:r>
              <a:t>内部审阅稿｜未批准对外发送｜CZ-D2完整性Gate保持FAIL  |  S03/S05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2823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15364C"/>
                </a:solidFill>
                <a:latin typeface="Microsoft YaHei"/>
              </a:defRPr>
            </a:pPr>
            <a: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114800"/>
                <a:gridCol w="4480560"/>
              </a:tblGrid>
              <a:tr h="438912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资源</a:t>
                      </a:r>
                    </a:p>
                  </a:txBody>
                  <a:tcPr>
                    <a:solidFill>
                      <a:srgbClr val="1536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可保留证据</a:t>
                      </a:r>
                    </a:p>
                  </a:txBody>
                  <a:tcPr>
                    <a:solidFill>
                      <a:srgbClr val="1536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限制</a:t>
                      </a:r>
                    </a:p>
                  </a:txBody>
                  <a:tcPr>
                    <a:solidFill>
                      <a:srgbClr val="15364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短垂向＋4通道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局部深度信息2.34–4.47倍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不是米级P95；校准/环境条件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整体倾斜8元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前向误差与数值归因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定位未评价；非物理否定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CAP06组合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独立O2/O6控制与接收诊断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融合P3未执行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NUM03环境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名义首深折返几何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不是实际可检测性/相干提供器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5364C"/>
                </a:solidFill>
                <a:latin typeface="Microsoft YaHei"/>
              </a:defRPr>
            </a:pPr>
            <a:r>
              <a:t>CZ-D2：同一双节点合同下检验新面板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2823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5651"/>
                </a:solidFill>
                <a:latin typeface="Microsoft YaHei"/>
              </a:defRPr>
            </a:pPr>
            <a:r>
              <a:t>内部审阅稿｜未批准对外发送｜CZ-D2完整性Gate保持FAIL  |  S18/S19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2823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15364C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5364C"/>
                </a:solidFill>
                <a:latin typeface="Microsoft YaHei"/>
              </a:defRPr>
            </a:pPr>
            <a:r>
              <a:t>• B0=(0,±5) km；B3=(3,±15) km；都不是单HLA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7860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5364C"/>
                </a:solidFill>
                <a:latin typeface="Microsoft YaHei"/>
              </a:defRPr>
            </a:pPr>
            <a:r>
              <a:t>• 1200 s / 121历元；2 m/s主平台，600 s后15°转向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65576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5364C"/>
                </a:solidFill>
                <a:latin typeface="Microsoft YaHei"/>
              </a:defRPr>
            </a:pPr>
            <a:r>
              <a:t>• 12个预注册离网格状态；每状态500次、每侧250次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52544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5364C"/>
                </a:solidFill>
                <a:latin typeface="Microsoft YaHei"/>
              </a:defRPr>
            </a:pPr>
            <a:r>
              <a:t>• 6000基础创新配对8配置；24000公开记录、48000终点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5364C"/>
                </a:solidFill>
                <a:latin typeface="Microsoft YaHei"/>
              </a:defRPr>
            </a:pPr>
            <a:r>
              <a:t>Q1/Q2与P0/P1：输入质量和先验分开说明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58078"/>
                </a:solidFill>
                <a:latin typeface="Microsoft YaHei"/>
              </a:defRPr>
            </a:pPr>
            <a:r>
              <a:t>有符号方位、同步、关联与偏置支持均为假设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2823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5651"/>
                </a:solidFill>
                <a:latin typeface="Microsoft YaHei"/>
              </a:defRPr>
            </a:pPr>
            <a:r>
              <a:t>内部审阅稿｜未批准对外发送｜CZ-D2完整性Gate保持FAIL  |  S18/S19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2823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15364C"/>
                </a:solidFill>
                <a:latin typeface="Microsoft YaHei"/>
              </a:defRPr>
            </a:pPr>
            <a: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1106424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38912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合同</a:t>
                      </a:r>
                    </a:p>
                  </a:txBody>
                  <a:tcPr>
                    <a:solidFill>
                      <a:srgbClr val="1536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方位σ</a:t>
                      </a:r>
                    </a:p>
                  </a:txBody>
                  <a:tcPr>
                    <a:solidFill>
                      <a:srgbClr val="1536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导航σ/轴/历元</a:t>
                      </a:r>
                    </a:p>
                  </a:txBody>
                  <a:tcPr>
                    <a:solidFill>
                      <a:srgbClr val="1536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生成共模 / 半差偏置</a:t>
                      </a:r>
                    </a:p>
                  </a:txBody>
                  <a:tcPr>
                    <a:solidFill>
                      <a:srgbClr val="15364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Q1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0.05°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25 m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±0.05° / ±0.025°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Q2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0.075°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37.5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±0.075° / ±0.0375°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38328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5364C"/>
                </a:solidFill>
                <a:latin typeface="Microsoft YaHei"/>
              </a:defRPr>
            </a:pPr>
            <a:r>
              <a:t>P0：估计器采用原支持。P1：仅把估计支持扩大2倍。</a:t>
            </a:r>
          </a:p>
          <a:p>
            <a:pPr>
              <a:spcAft>
                <a:spcPts val="1200"/>
              </a:spcAft>
              <a:defRPr sz="1900" b="0">
                <a:solidFill>
                  <a:srgbClr val="15364C"/>
                </a:solidFill>
                <a:latin typeface="Microsoft YaHei"/>
              </a:defRPr>
            </a:pPr>
            <a:r>
              <a:t>生成偏置不变，P1仍有硬先验，不是超界偏置失配试验。</a:t>
            </a:r>
          </a:p>
          <a:p>
            <a:pPr>
              <a:spcAft>
                <a:spcPts val="1200"/>
              </a:spcAft>
              <a:defRPr sz="1900" b="0">
                <a:solidFill>
                  <a:srgbClr val="15364C"/>
                </a:solidFill>
                <a:latin typeface="Microsoft YaHei"/>
              </a:defRPr>
            </a:pPr>
            <a:r>
              <a:t>归一化尺度改变也可能影响TRF轨迹，称为冻结处理器的支持敏感性。</a:t>
            </a:r>
          </a:p>
          <a:p>
            <a:pPr>
              <a:spcAft>
                <a:spcPts val="1200"/>
              </a:spcAft>
              <a:defRPr sz="1900" b="0">
                <a:solidFill>
                  <a:srgbClr val="15364C"/>
                </a:solidFill>
                <a:latin typeface="Microsoft YaHei"/>
              </a:defRPr>
            </a:pPr>
            <a:r>
              <a:t>Q2同时改变多项条件，不能解释为单一测向噪声因果效应。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5364C"/>
                </a:solidFill>
                <a:latin typeface="Microsoft YaHei"/>
              </a:defRPr>
            </a:pPr>
            <a:r>
              <a:t>新几何Q1/P0：三个参数改善，方位尾部略差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58078"/>
                </a:solidFill>
                <a:latin typeface="Microsoft YaHei"/>
              </a:defRPr>
            </a:pPr>
            <a:r>
              <a:t>完整性例外下的描述性结果；12几何最坏无条件P95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2823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5651"/>
                </a:solidFill>
                <a:latin typeface="Microsoft YaHei"/>
              </a:defRPr>
            </a:pPr>
            <a:r>
              <a:t>内部审阅稿｜未批准对外发送｜CZ-D2完整性Gate保持FAIL  |  S08/S09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2823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15364C"/>
                </a:solidFill>
                <a:latin typeface="Microsoft YaHei"/>
              </a:defRPr>
            </a:pPr>
            <a:r>
              <a:t>8</a:t>
            </a:r>
          </a:p>
        </p:txBody>
      </p:sp>
      <p:pic>
        <p:nvPicPr>
          <p:cNvPr id="6" name="Picture 5" descr="F01_D2_FOUR_PARAMETER_P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1508760"/>
            <a:ext cx="6514406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5364C"/>
                </a:solidFill>
                <a:latin typeface="Microsoft YaHei"/>
              </a:defRPr>
            </a:pPr>
            <a:r>
              <a:t>完整八组四参数P95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58078"/>
                </a:solidFill>
                <a:latin typeface="Microsoft YaHei"/>
              </a:defRPr>
            </a:pPr>
            <a:r>
              <a:t>%用于距离/速度，°用于方位/航向；深度NOT_EVALUATED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2823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5651"/>
                </a:solidFill>
                <a:latin typeface="Microsoft YaHei"/>
              </a:defRPr>
            </a:pPr>
            <a:r>
              <a:t>内部审阅稿｜未批准对外发送｜CZ-D2完整性Gate保持FAIL  |  S08/S09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2823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15364C"/>
                </a:solidFill>
                <a:latin typeface="Microsoft YaHei"/>
              </a:defRPr>
            </a:pPr>
            <a: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106424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3891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配置</a:t>
                      </a:r>
                    </a:p>
                  </a:txBody>
                  <a:tcPr>
                    <a:solidFill>
                      <a:srgbClr val="1536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距离 %</a:t>
                      </a:r>
                    </a:p>
                  </a:txBody>
                  <a:tcPr>
                    <a:solidFill>
                      <a:srgbClr val="1536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方位 °</a:t>
                      </a:r>
                    </a:p>
                  </a:txBody>
                  <a:tcPr>
                    <a:solidFill>
                      <a:srgbClr val="1536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速度 %</a:t>
                      </a:r>
                    </a:p>
                  </a:txBody>
                  <a:tcPr>
                    <a:solidFill>
                      <a:srgbClr val="1536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航向 °</a:t>
                      </a:r>
                    </a:p>
                  </a:txBody>
                  <a:tcPr>
                    <a:solidFill>
                      <a:srgbClr val="15364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Q1_B0_P0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2.151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0.134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30.932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2.791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Q1_B0_P1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3.167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0.208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31.451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3.067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Q1_B3_P0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0.684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0.143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11.557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1.928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Q1_B3_P1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1.018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0.218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11.706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1.970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Q2_B0_P0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3.167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0.208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47.533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3.950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Q2_B0_P1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4.703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0.314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49.528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4.350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Q2_B3_P0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1.029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0.215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17.426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2.791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Q2_B3_P1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1.535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0.327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17.476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2.791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5364C"/>
                </a:solidFill>
                <a:latin typeface="Microsoft YaHei"/>
              </a:defRPr>
            </a:pPr>
            <a:r>
              <a:t>每配置6000次；这是经验尾部，不是总体置信保证或工程验收。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5364C"/>
                </a:solidFill>
                <a:latin typeface="Microsoft YaHei"/>
              </a:defRPr>
            </a:pPr>
            <a:r>
              <a:t>速度：池化中位和最坏尾部必须分别报告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58078"/>
                </a:solidFill>
                <a:latin typeface="Microsoft YaHei"/>
              </a:defRPr>
            </a:pPr>
            <a:r>
              <a:t>旧Q1/B3速度8.566% → 新面板11.557%；两面板并非配对实验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2823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5651"/>
                </a:solidFill>
                <a:latin typeface="Microsoft YaHei"/>
              </a:defRPr>
            </a:pPr>
            <a:r>
              <a:t>内部审阅稿｜未批准对外发送｜CZ-D2完整性Gate保持FAIL  |  S02/S08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2823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15364C"/>
                </a:solidFill>
                <a:latin typeface="Microsoft YaHei"/>
              </a:defRPr>
            </a:pPr>
            <a:r>
              <a:t>10</a:t>
            </a:r>
          </a:p>
        </p:txBody>
      </p:sp>
      <p:pic>
        <p:nvPicPr>
          <p:cNvPr id="6" name="Picture 5" descr="F03_SPEED_MEDIAN_AND_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554480"/>
            <a:ext cx="8764809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5364C"/>
                </a:solidFill>
                <a:latin typeface="Microsoft YaHei"/>
              </a:defRPr>
            </a:pPr>
            <a:r>
              <a:t>偏置支持是实质条件，不能省略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58078"/>
                </a:solidFill>
                <a:latin typeface="Microsoft YaHei"/>
              </a:defRPr>
            </a:pPr>
            <a:r>
              <a:t>B3四组均6000/6000至少一项偏置触界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2823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5651"/>
                </a:solidFill>
                <a:latin typeface="Microsoft YaHei"/>
              </a:defRPr>
            </a:pPr>
            <a:r>
              <a:t>内部审阅稿｜未批准对外发送｜CZ-D2完整性Gate保持FAIL  |  S08/S10/S18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2823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15364C"/>
                </a:solidFill>
                <a:latin typeface="Microsoft YaHei"/>
              </a:defRPr>
            </a:pPr>
            <a:r>
              <a:t>11</a:t>
            </a:r>
          </a:p>
        </p:txBody>
      </p:sp>
      <p:pic>
        <p:nvPicPr>
          <p:cNvPr id="6" name="Picture 5" descr="F02_BIAS_SUPPORT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554480"/>
            <a:ext cx="9106391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5364C"/>
                </a:solidFill>
                <a:latin typeface="Microsoft YaHei"/>
              </a:defRPr>
            </a:pPr>
            <a:r>
              <a:t>配对变化：保留每个参数的变差记录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58078"/>
                </a:solidFill>
                <a:latin typeface="Microsoft YaHei"/>
              </a:defRPr>
            </a:pPr>
            <a:r>
              <a:t>Q1/P0；每参数6000对，同一创新并非四份独立证据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2823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5651"/>
                </a:solidFill>
                <a:latin typeface="Microsoft YaHei"/>
              </a:defRPr>
            </a:pPr>
            <a:r>
              <a:t>内部审阅稿｜未批准对外发送｜CZ-D2完整性Gate保持FAIL  |  S11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2823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15364C"/>
                </a:solidFill>
                <a:latin typeface="Microsoft YaHei"/>
              </a:defRPr>
            </a:pPr>
            <a:r>
              <a:t>12</a:t>
            </a:r>
          </a:p>
        </p:txBody>
      </p:sp>
      <p:pic>
        <p:nvPicPr>
          <p:cNvPr id="6" name="Picture 5" descr="F04_PAIRED_CHAN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645920"/>
            <a:ext cx="10149840" cy="44697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5364C"/>
                </a:solidFill>
                <a:latin typeface="Microsoft YaHei"/>
              </a:defRPr>
            </a:pPr>
            <a:r>
              <a:t>完整性例外：原FAIL不改判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58078"/>
                </a:solidFill>
                <a:latin typeface="Microsoft YaHei"/>
              </a:defRPr>
            </a:pPr>
            <a:r>
              <a:t>条件性数值结果保留；完整性例外必须伴随精度引用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2823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5651"/>
                </a:solidFill>
                <a:latin typeface="Microsoft YaHei"/>
              </a:defRPr>
            </a:pPr>
            <a:r>
              <a:t>内部审阅稿｜未批准对外发送｜CZ-D2完整性Gate保持FAIL  |  S13/S14/S15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2823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15364C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5364C"/>
                </a:solidFill>
                <a:latin typeface="Microsoft YaHei"/>
              </a:defRPr>
            </a:pPr>
            <a:r>
              <a:t>• 539,763 PASS、1 FAIL；主分析/冷审计各一次，零重试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7860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5364C"/>
                </a:solidFill>
                <a:latin typeface="Microsoft YaHei"/>
              </a:defRPr>
            </a:pPr>
            <a:r>
              <a:t>• 失败：两份标准库.pyc缓存访问被拒绝，随后读取源代码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65576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5364C"/>
                </a:solidFill>
                <a:latin typeface="Microsoft YaHei"/>
              </a:defRPr>
            </a:pPr>
            <a:r>
              <a:t>• 日志未观察到成功读取私有真值；不等于OS级隔离认证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52544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5364C"/>
                </a:solidFill>
                <a:latin typeface="Microsoft YaHei"/>
              </a:defRPr>
            </a:pPr>
            <a:r>
              <a:t>• 负责人接受原因解释，未授予整体科研PASS；不再重跑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5364C"/>
                </a:solidFill>
                <a:latin typeface="Microsoft YaHei"/>
              </a:defRPr>
            </a:pPr>
            <a:r>
              <a:t>资源需求：不是一张已验证的精度排行榜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58078"/>
                </a:solidFill>
                <a:latin typeface="Microsoft YaHei"/>
              </a:defRPr>
            </a:pPr>
            <a:r>
              <a:t>新增资源的理论潜力、已测配置和工程条件分别记账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2823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5651"/>
                </a:solidFill>
                <a:latin typeface="Microsoft YaHei"/>
              </a:defRPr>
            </a:pPr>
            <a:r>
              <a:t>内部审阅稿｜未批准对外发送｜CZ-D2完整性Gate保持FAIL  |  S03/S04/S12/S18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2823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15364C"/>
                </a:solidFill>
                <a:latin typeface="Microsoft YaHei"/>
              </a:defRPr>
            </a:pPr>
            <a: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926080"/>
                <a:gridCol w="5943600"/>
              </a:tblGrid>
              <a:tr h="438912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路径</a:t>
                      </a:r>
                    </a:p>
                  </a:txBody>
                  <a:tcPr>
                    <a:solidFill>
                      <a:srgbClr val="1536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可能受益状态</a:t>
                      </a:r>
                    </a:p>
                  </a:txBody>
                  <a:tcPr>
                    <a:solidFill>
                      <a:srgbClr val="1536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新增条件与未闭合问题</a:t>
                      </a:r>
                    </a:p>
                  </a:txBody>
                  <a:tcPr>
                    <a:solidFill>
                      <a:srgbClr val="15364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原阵接收链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距离/运动候选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复数据、阵形、AGC、源频参考、消歧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短垂向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局部深度信息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＋4通道/4 m；差分增益、可信传播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辅助节点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距离/速度/航向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5–15.297 km部署；测向、偏置、同步关联</a:t>
                      </a:r>
                    </a:p>
                  </a:txBody>
                  <a:tcPr>
                    <a:solidFill>
                      <a:srgbClr val="E9F0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联合增强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尚未验证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5364C"/>
                          </a:solidFill>
                          <a:latin typeface="Microsoft YaHei"/>
                        </a:defRPr>
                      </a:pPr>
                      <a:r>
                        <a:t>不能把独立结果拼成五维系统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937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5364C"/>
                </a:solidFill>
                <a:latin typeface="Microsoft YaHei"/>
              </a:defRPr>
            </a:pPr>
            <a:r>
              <a:t>距离落在45–60 km内也不证明第一CZ可检测性；无设备价格、最低数量或经验Pareto承诺。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5364C"/>
                </a:solidFill>
                <a:latin typeface="Microsoft YaHei"/>
              </a:defRPr>
            </a:pPr>
            <a:r>
              <a:t>交付建议与停止边界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58078"/>
                </a:solidFill>
                <a:latin typeface="Microsoft YaHei"/>
              </a:defRPr>
            </a:pPr>
            <a:r>
              <a:t>研究创新落在观测可提取性、不可辨识方向与资源条件之间的联系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2823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5651"/>
                </a:solidFill>
                <a:latin typeface="Microsoft YaHei"/>
              </a:defRPr>
            </a:pPr>
            <a:r>
              <a:t>内部审阅稿｜未批准对外发送｜CZ-D2完整性Gate保持FAIL  |  S01/S03/S15/S18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2823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15364C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5364C"/>
                </a:solidFill>
                <a:latin typeface="Microsoft YaHei"/>
              </a:defRPr>
            </a:pPr>
            <a:r>
              <a:t>• 主线：原单HLA研究进展、具体能力缺口及可提取观测条件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7860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5364C"/>
                </a:solidFill>
                <a:latin typeface="Microsoft YaHei"/>
              </a:defRPr>
            </a:pPr>
            <a:r>
              <a:t>• 增强参照：双节点四参数结果，连同质量、先验及完整性例外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65576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5364C"/>
                </a:solidFill>
                <a:latin typeface="Microsoft YaHei"/>
              </a:defRPr>
            </a:pPr>
            <a:r>
              <a:t>• 深度：保留局部信息，不填经验测深P95，不承诺五维精度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52544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5364C"/>
                </a:solidFill>
                <a:latin typeface="Microsoft YaHei"/>
              </a:defRPr>
            </a:pPr>
            <a:r>
              <a:t>• 本轮提交后STOP；等待对外措辞审阅，不发甲方、不启动新实验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